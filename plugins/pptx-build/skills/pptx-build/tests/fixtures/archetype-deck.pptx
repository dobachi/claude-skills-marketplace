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1248" y="2240280"/>
            <a:ext cx="10506456" cy="11887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41248" y="3456432"/>
            <a:ext cx="10506456" cy="7315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66928"/>
            <a:ext cx="10506456" cy="950976"/>
          </a:xfrm>
        </p:spPr>
        <p:txBody>
          <a:bodyPr anchor="b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719072"/>
            <a:ext cx="10506456" cy="4626864"/>
          </a:xfrm>
        </p:spPr>
        <p:txBody>
          <a:bodyPr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2615184"/>
            <a:ext cx="10506456" cy="128016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1993392"/>
            <a:ext cx="10506456" cy="5486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66928"/>
            <a:ext cx="10506456" cy="950976"/>
          </a:xfrm>
        </p:spPr>
        <p:txBody>
          <a:bodyPr anchor="b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1248" y="1719072"/>
            <a:ext cx="5024628" cy="4626864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3076" y="1719072"/>
            <a:ext cx="5024628" cy="4626864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2194560"/>
            <a:ext cx="10506456" cy="2011680"/>
          </a:xfrm>
        </p:spPr>
        <p:txBody>
          <a:bodyPr anchor="ctr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66928"/>
            <a:ext cx="10506456" cy="95097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41248" y="1719072"/>
            <a:ext cx="10506456" cy="3657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5522976"/>
            <a:ext cx="10506456" cy="822960"/>
          </a:xfrm>
        </p:spPr>
        <p:txBody>
          <a:bodyPr anchor="t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>
            <a:no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3200" b="1">
                <a:solidFill>
                  <a:srgbClr val="1A1A1A"/>
                </a:solidFill>
                <a:latin typeface="Yu Gothic Medium"/>
                <a:cs typeface="Yu Gothic Medium"/>
                <a:ea typeface="Yu Gothic Medium"/>
              </a:rPr>
              <a:t>調達に3か月かかる限り、どの改善案も間に合わない</a:t>
            </a:r>
          </a:p>
          <a:p>
            <a:pPr algn="l">
              <a:spcBef>
                <a:spcPts val="1200"/>
              </a:spcBef>
              <a:buNone/>
            </a:pPr>
            <a:r>
              <a:rPr sz="1800">
                <a:solidFill>
                  <a:srgbClr val="6B7280"/>
                </a:solidFill>
                <a:latin typeface="Yu Gothic"/>
                <a:cs typeface="Yu Gothic"/>
                <a:ea typeface="Yu Gothic"/>
              </a:rPr>
              <a:t>第2四半期 事業レビュー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847088"/>
            <a:ext cx="960120" cy="41148"/>
          </a:xfrm>
          <a:prstGeom prst="rect">
            <a:avLst/>
          </a:prstGeom>
          <a:solidFill>
            <a:srgbClr val="2F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24744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1100" b="0">
                <a:solidFill>
                  <a:srgbClr val="6B7280"/>
                </a:solidFill>
                <a:latin typeface="Yu Gothic"/>
                <a:cs typeface="Yu Gothic"/>
                <a:ea typeface="Yu 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b" lIns="0" rIns="0" tIns="0" bIns="0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3000" b="1">
                <a:solidFill>
                  <a:srgbClr val="1A1A1A"/>
                </a:solidFill>
                <a:latin typeface="Yu Gothic Medium"/>
                <a:cs typeface="Yu Gothic Medium"/>
                <a:ea typeface="Yu Gothic Medium"/>
              </a:rPr>
              <a:t>遅延の要因は3つに整理できる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91056"/>
            <a:ext cx="960120" cy="41148"/>
          </a:xfrm>
          <a:prstGeom prst="rect">
            <a:avLst/>
          </a:prstGeom>
          <a:solidFill>
            <a:srgbClr val="2F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t/card"/>
          <p:cNvSpPr/>
          <p:nvPr/>
        </p:nvSpPr>
        <p:spPr>
          <a:xfrm>
            <a:off x="841248" y="3438144"/>
            <a:ext cx="3400592" cy="1188720"/>
          </a:xfrm>
          <a:prstGeom prst="roundRect">
            <a:avLst>
              <a:gd name="adj" fmla="val 4615"/>
            </a:avLst>
          </a:prstGeom>
          <a:solidFill>
            <a:srgbClr val="E9ECF1"/>
          </a:solidFill>
          <a:ln w="9525">
            <a:solidFill>
              <a:srgbClr val="2F5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339" rIns="152339" tIns="152339" bIns="152339"/>
          <a:lstStyle/>
          <a:p>
            <a:pPr algn="l">
              <a:lnSpc>
                <a:spcPct val="115000"/>
              </a:lnSpc>
              <a:spcAft>
                <a:spcPts val="500"/>
              </a:spcAft>
              <a:buNone/>
            </a:pPr>
            <a:r>
              <a:rPr sz="1800" b="1">
                <a:solidFill>
                  <a:srgbClr val="2F5DA8"/>
                </a:solidFill>
                <a:latin typeface="Yu Gothic Medium"/>
                <a:cs typeface="Yu Gothic Medium"/>
                <a:ea typeface="Yu Gothic Medium"/>
              </a:rPr>
              <a:t>承認の直列化</a:t>
            </a:r>
          </a:p>
          <a:p>
            <a:pPr algn="l">
              <a:lnSpc>
                <a:spcPct val="125000"/>
              </a:lnSpc>
              <a:buNone/>
            </a:pPr>
            <a:r>
              <a:rPr sz="1600">
                <a:solidFill>
                  <a:srgbClr val="6B7280"/>
                </a:solidFill>
                <a:latin typeface="Yu Gothic"/>
                <a:cs typeface="Yu Gothic"/>
                <a:ea typeface="Yu Gothic"/>
              </a:rPr>
              <a:t>5部署を順に回すため、1件あたり平均42日かかる</a:t>
            </a:r>
          </a:p>
        </p:txBody>
      </p:sp>
      <p:sp>
        <p:nvSpPr>
          <p:cNvPr id="6" name="part/card"/>
          <p:cNvSpPr/>
          <p:nvPr/>
        </p:nvSpPr>
        <p:spPr>
          <a:xfrm>
            <a:off x="4394179" y="3438144"/>
            <a:ext cx="3400592" cy="1188720"/>
          </a:xfrm>
          <a:prstGeom prst="roundRect">
            <a:avLst>
              <a:gd name="adj" fmla="val 4615"/>
            </a:avLst>
          </a:prstGeom>
          <a:solidFill>
            <a:srgbClr val="F4F6F8"/>
          </a:solidFill>
          <a:ln w="9525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339" rIns="152339" tIns="152339" bIns="152339"/>
          <a:lstStyle/>
          <a:p>
            <a:pPr algn="l">
              <a:lnSpc>
                <a:spcPct val="115000"/>
              </a:lnSpc>
              <a:spcAft>
                <a:spcPts val="500"/>
              </a:spcAft>
              <a:buNone/>
            </a:pPr>
            <a:r>
              <a:rPr sz="1800" b="1">
                <a:solidFill>
                  <a:srgbClr val="1A1A1A"/>
                </a:solidFill>
                <a:latin typeface="Yu Gothic Medium"/>
                <a:cs typeface="Yu Gothic Medium"/>
                <a:ea typeface="Yu Gothic Medium"/>
              </a:rPr>
              <a:t>仕様の後出し</a:t>
            </a:r>
          </a:p>
          <a:p>
            <a:pPr algn="l">
              <a:lnSpc>
                <a:spcPct val="125000"/>
              </a:lnSpc>
              <a:buNone/>
            </a:pPr>
            <a:r>
              <a:rPr sz="1600">
                <a:solidFill>
                  <a:srgbClr val="6B7280"/>
                </a:solidFill>
                <a:latin typeface="Yu Gothic"/>
                <a:cs typeface="Yu Gothic"/>
                <a:ea typeface="Yu Gothic"/>
              </a:rPr>
              <a:t>着手後の変更が全案件の6割で発生している</a:t>
            </a:r>
          </a:p>
        </p:txBody>
      </p:sp>
      <p:sp>
        <p:nvSpPr>
          <p:cNvPr id="7" name="part/card"/>
          <p:cNvSpPr/>
          <p:nvPr/>
        </p:nvSpPr>
        <p:spPr>
          <a:xfrm>
            <a:off x="7947111" y="3438144"/>
            <a:ext cx="3400592" cy="1188720"/>
          </a:xfrm>
          <a:prstGeom prst="roundRect">
            <a:avLst>
              <a:gd name="adj" fmla="val 4615"/>
            </a:avLst>
          </a:prstGeom>
          <a:solidFill>
            <a:srgbClr val="F4F6F8"/>
          </a:solidFill>
          <a:ln w="9525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339" rIns="152339" tIns="152339" bIns="152339"/>
          <a:lstStyle/>
          <a:p>
            <a:pPr algn="l">
              <a:lnSpc>
                <a:spcPct val="115000"/>
              </a:lnSpc>
              <a:spcAft>
                <a:spcPts val="500"/>
              </a:spcAft>
              <a:buNone/>
            </a:pPr>
            <a:r>
              <a:rPr sz="1800" b="1">
                <a:solidFill>
                  <a:srgbClr val="1A1A1A"/>
                </a:solidFill>
                <a:latin typeface="Yu Gothic Medium"/>
                <a:cs typeface="Yu Gothic Medium"/>
                <a:ea typeface="Yu Gothic Medium"/>
              </a:rPr>
              <a:t>評価基準の不在</a:t>
            </a:r>
          </a:p>
          <a:p>
            <a:pPr algn="l">
              <a:lnSpc>
                <a:spcPct val="125000"/>
              </a:lnSpc>
              <a:buNone/>
            </a:pPr>
            <a:r>
              <a:rPr sz="1600">
                <a:solidFill>
                  <a:srgbClr val="6B7280"/>
                </a:solidFill>
                <a:latin typeface="Yu Gothic"/>
                <a:cs typeface="Yu Gothic"/>
                <a:ea typeface="Yu Gothic"/>
              </a:rPr>
              <a:t>比較軸が案件ごとに違い、再利用できない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419088"/>
            <a:ext cx="96834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6B7280"/>
                </a:solidFill>
                <a:latin typeface="Yu Gothic"/>
                <a:cs typeface="Yu Gothic"/>
                <a:ea typeface="Yu Gothic"/>
              </a:rPr>
              <a:t>出典: 社内調達ログ 2026-05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4744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1100" b="0">
                <a:solidFill>
                  <a:srgbClr val="6B7280"/>
                </a:solidFill>
                <a:latin typeface="Yu Gothic"/>
                <a:cs typeface="Yu Gothic"/>
                <a:ea typeface="Yu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b" lIns="0" rIns="0" tIns="0" bIns="0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3000" b="1">
                <a:solidFill>
                  <a:srgbClr val="1A1A1A"/>
                </a:solidFill>
                <a:latin typeface="Yu Gothic Medium"/>
                <a:cs typeface="Yu Gothic Medium"/>
                <a:ea typeface="Yu Gothic Medium"/>
              </a:rPr>
              <a:t>承認は5段を直列に通る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91056"/>
            <a:ext cx="960120" cy="41148"/>
          </a:xfrm>
          <a:prstGeom prst="rect">
            <a:avLst/>
          </a:prstGeom>
          <a:solidFill>
            <a:srgbClr val="2F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t/step"/>
          <p:cNvSpPr/>
          <p:nvPr/>
        </p:nvSpPr>
        <p:spPr>
          <a:xfrm>
            <a:off x="841248" y="3438144"/>
            <a:ext cx="1796613" cy="1188720"/>
          </a:xfrm>
          <a:prstGeom prst="roundRect">
            <a:avLst>
              <a:gd name="adj" fmla="val 4615"/>
            </a:avLst>
          </a:prstGeom>
          <a:solidFill>
            <a:srgbClr val="F4F6F8"/>
          </a:solidFill>
          <a:ln w="9525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339" rIns="152339" tIns="152339" bIns="152339"/>
          <a:lstStyle/>
          <a:p>
            <a:pPr algn="l">
              <a:spcAft>
                <a:spcPts val="300"/>
              </a:spcAft>
              <a:buNone/>
            </a:pPr>
            <a:r>
              <a:rPr sz="1300" b="1">
                <a:solidFill>
                  <a:srgbClr val="2F5DA8"/>
                </a:solidFill>
                <a:latin typeface="Yu Gothic Medium"/>
                <a:cs typeface="Yu Gothic Medium"/>
                <a:ea typeface="Yu Gothic Medium"/>
              </a:rPr>
              <a:t>01</a:t>
            </a:r>
          </a:p>
          <a:p>
            <a:pPr algn="l">
              <a:lnSpc>
                <a:spcPct val="115000"/>
              </a:lnSpc>
              <a:spcAft>
                <a:spcPts val="500"/>
              </a:spcAft>
              <a:buNone/>
            </a:pPr>
            <a:r>
              <a:rPr sz="1800" b="1">
                <a:solidFill>
                  <a:srgbClr val="1A1A1A"/>
                </a:solidFill>
                <a:latin typeface="Yu Gothic Medium"/>
                <a:cs typeface="Yu Gothic Medium"/>
                <a:ea typeface="Yu Gothic Medium"/>
              </a:rPr>
              <a:t>起案</a:t>
            </a:r>
          </a:p>
          <a:p>
            <a:pPr algn="l">
              <a:lnSpc>
                <a:spcPct val="125000"/>
              </a:lnSpc>
              <a:buNone/>
            </a:pPr>
            <a:r>
              <a:rPr sz="1600">
                <a:solidFill>
                  <a:srgbClr val="6B7280"/>
                </a:solidFill>
                <a:latin typeface="Yu Gothic"/>
                <a:cs typeface="Yu Gothic"/>
                <a:ea typeface="Yu Gothic"/>
              </a:rPr>
              <a:t>現場が申請</a:t>
            </a:r>
          </a:p>
        </p:txBody>
      </p:sp>
      <p:sp>
        <p:nvSpPr>
          <p:cNvPr id="6" name="part/arrow"/>
          <p:cNvSpPr/>
          <p:nvPr/>
        </p:nvSpPr>
        <p:spPr>
          <a:xfrm rot="5400000">
            <a:off x="2767349" y="3971568"/>
            <a:ext cx="121871" cy="121871"/>
          </a:xfrm>
          <a:prstGeom prst="triangl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t/step"/>
          <p:cNvSpPr/>
          <p:nvPr/>
        </p:nvSpPr>
        <p:spPr>
          <a:xfrm>
            <a:off x="3018708" y="3438144"/>
            <a:ext cx="1796613" cy="1188720"/>
          </a:xfrm>
          <a:prstGeom prst="roundRect">
            <a:avLst>
              <a:gd name="adj" fmla="val 4615"/>
            </a:avLst>
          </a:prstGeom>
          <a:solidFill>
            <a:srgbClr val="F4F6F8"/>
          </a:solidFill>
          <a:ln w="9525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339" rIns="152339" tIns="152339" bIns="152339"/>
          <a:lstStyle/>
          <a:p>
            <a:pPr algn="l">
              <a:spcAft>
                <a:spcPts val="300"/>
              </a:spcAft>
              <a:buNone/>
            </a:pPr>
            <a:r>
              <a:rPr sz="1300" b="1">
                <a:solidFill>
                  <a:srgbClr val="2F5DA8"/>
                </a:solidFill>
                <a:latin typeface="Yu Gothic Medium"/>
                <a:cs typeface="Yu Gothic Medium"/>
                <a:ea typeface="Yu Gothic Medium"/>
              </a:rPr>
              <a:t>02</a:t>
            </a:r>
          </a:p>
          <a:p>
            <a:pPr algn="l">
              <a:lnSpc>
                <a:spcPct val="115000"/>
              </a:lnSpc>
              <a:spcAft>
                <a:spcPts val="500"/>
              </a:spcAft>
              <a:buNone/>
            </a:pPr>
            <a:r>
              <a:rPr sz="1800" b="1">
                <a:solidFill>
                  <a:srgbClr val="1A1A1A"/>
                </a:solidFill>
                <a:latin typeface="Yu Gothic Medium"/>
                <a:cs typeface="Yu Gothic Medium"/>
                <a:ea typeface="Yu Gothic Medium"/>
              </a:rPr>
              <a:t>一次審査</a:t>
            </a:r>
          </a:p>
          <a:p>
            <a:pPr algn="l">
              <a:lnSpc>
                <a:spcPct val="125000"/>
              </a:lnSpc>
              <a:buNone/>
            </a:pPr>
            <a:r>
              <a:rPr sz="1600">
                <a:solidFill>
                  <a:srgbClr val="6B7280"/>
                </a:solidFill>
                <a:latin typeface="Yu Gothic"/>
                <a:cs typeface="Yu Gothic"/>
                <a:ea typeface="Yu Gothic"/>
              </a:rPr>
              <a:t>部門長</a:t>
            </a:r>
          </a:p>
        </p:txBody>
      </p:sp>
      <p:sp>
        <p:nvSpPr>
          <p:cNvPr id="8" name="part/arrow"/>
          <p:cNvSpPr/>
          <p:nvPr/>
        </p:nvSpPr>
        <p:spPr>
          <a:xfrm rot="5400000">
            <a:off x="4944810" y="3971568"/>
            <a:ext cx="121871" cy="121871"/>
          </a:xfrm>
          <a:prstGeom prst="triangl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rt/step"/>
          <p:cNvSpPr/>
          <p:nvPr/>
        </p:nvSpPr>
        <p:spPr>
          <a:xfrm>
            <a:off x="5196169" y="3438144"/>
            <a:ext cx="1796613" cy="1188720"/>
          </a:xfrm>
          <a:prstGeom prst="roundRect">
            <a:avLst>
              <a:gd name="adj" fmla="val 4615"/>
            </a:avLst>
          </a:prstGeom>
          <a:solidFill>
            <a:srgbClr val="F4F6F8"/>
          </a:solidFill>
          <a:ln w="9525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339" rIns="152339" tIns="152339" bIns="152339"/>
          <a:lstStyle/>
          <a:p>
            <a:pPr algn="l">
              <a:spcAft>
                <a:spcPts val="300"/>
              </a:spcAft>
              <a:buNone/>
            </a:pPr>
            <a:r>
              <a:rPr sz="1300" b="1">
                <a:solidFill>
                  <a:srgbClr val="2F5DA8"/>
                </a:solidFill>
                <a:latin typeface="Yu Gothic Medium"/>
                <a:cs typeface="Yu Gothic Medium"/>
                <a:ea typeface="Yu Gothic Medium"/>
              </a:rPr>
              <a:t>03</a:t>
            </a:r>
          </a:p>
          <a:p>
            <a:pPr algn="l">
              <a:lnSpc>
                <a:spcPct val="115000"/>
              </a:lnSpc>
              <a:spcAft>
                <a:spcPts val="500"/>
              </a:spcAft>
              <a:buNone/>
            </a:pPr>
            <a:r>
              <a:rPr sz="1800" b="1">
                <a:solidFill>
                  <a:srgbClr val="1A1A1A"/>
                </a:solidFill>
                <a:latin typeface="Yu Gothic Medium"/>
                <a:cs typeface="Yu Gothic Medium"/>
                <a:ea typeface="Yu Gothic Medium"/>
              </a:rPr>
              <a:t>調達</a:t>
            </a:r>
          </a:p>
          <a:p>
            <a:pPr algn="l">
              <a:lnSpc>
                <a:spcPct val="125000"/>
              </a:lnSpc>
              <a:buNone/>
            </a:pPr>
            <a:r>
              <a:rPr sz="1600">
                <a:solidFill>
                  <a:srgbClr val="6B7280"/>
                </a:solidFill>
                <a:latin typeface="Yu Gothic"/>
                <a:cs typeface="Yu Gothic"/>
                <a:ea typeface="Yu Gothic"/>
              </a:rPr>
              <a:t>見積照会</a:t>
            </a:r>
          </a:p>
        </p:txBody>
      </p:sp>
      <p:sp>
        <p:nvSpPr>
          <p:cNvPr id="10" name="part/arrow"/>
          <p:cNvSpPr/>
          <p:nvPr/>
        </p:nvSpPr>
        <p:spPr>
          <a:xfrm rot="5400000">
            <a:off x="7122270" y="3971568"/>
            <a:ext cx="121871" cy="121871"/>
          </a:xfrm>
          <a:prstGeom prst="triangl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art/step"/>
          <p:cNvSpPr/>
          <p:nvPr/>
        </p:nvSpPr>
        <p:spPr>
          <a:xfrm>
            <a:off x="7373630" y="3438144"/>
            <a:ext cx="1796613" cy="1188720"/>
          </a:xfrm>
          <a:prstGeom prst="roundRect">
            <a:avLst>
              <a:gd name="adj" fmla="val 4615"/>
            </a:avLst>
          </a:prstGeom>
          <a:solidFill>
            <a:srgbClr val="F4F6F8"/>
          </a:solidFill>
          <a:ln w="9525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339" rIns="152339" tIns="152339" bIns="152339"/>
          <a:lstStyle/>
          <a:p>
            <a:pPr algn="l">
              <a:spcAft>
                <a:spcPts val="300"/>
              </a:spcAft>
              <a:buNone/>
            </a:pPr>
            <a:r>
              <a:rPr sz="1300" b="1">
                <a:solidFill>
                  <a:srgbClr val="2F5DA8"/>
                </a:solidFill>
                <a:latin typeface="Yu Gothic Medium"/>
                <a:cs typeface="Yu Gothic Medium"/>
                <a:ea typeface="Yu Gothic Medium"/>
              </a:rPr>
              <a:t>04</a:t>
            </a:r>
          </a:p>
          <a:p>
            <a:pPr algn="l">
              <a:lnSpc>
                <a:spcPct val="115000"/>
              </a:lnSpc>
              <a:spcAft>
                <a:spcPts val="500"/>
              </a:spcAft>
              <a:buNone/>
            </a:pPr>
            <a:r>
              <a:rPr sz="1800" b="1">
                <a:solidFill>
                  <a:srgbClr val="1A1A1A"/>
                </a:solidFill>
                <a:latin typeface="Yu Gothic Medium"/>
                <a:cs typeface="Yu Gothic Medium"/>
                <a:ea typeface="Yu Gothic Medium"/>
              </a:rPr>
              <a:t>法務</a:t>
            </a:r>
          </a:p>
          <a:p>
            <a:pPr algn="l">
              <a:lnSpc>
                <a:spcPct val="125000"/>
              </a:lnSpc>
              <a:buNone/>
            </a:pPr>
            <a:r>
              <a:rPr sz="1600">
                <a:solidFill>
                  <a:srgbClr val="6B7280"/>
                </a:solidFill>
                <a:latin typeface="Yu Gothic"/>
                <a:cs typeface="Yu Gothic"/>
                <a:ea typeface="Yu Gothic"/>
              </a:rPr>
              <a:t>契約確認</a:t>
            </a:r>
          </a:p>
        </p:txBody>
      </p:sp>
      <p:sp>
        <p:nvSpPr>
          <p:cNvPr id="12" name="part/arrow"/>
          <p:cNvSpPr/>
          <p:nvPr/>
        </p:nvSpPr>
        <p:spPr>
          <a:xfrm rot="5400000">
            <a:off x="9299731" y="3971568"/>
            <a:ext cx="121871" cy="121871"/>
          </a:xfrm>
          <a:prstGeom prst="triangl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art/step"/>
          <p:cNvSpPr/>
          <p:nvPr/>
        </p:nvSpPr>
        <p:spPr>
          <a:xfrm>
            <a:off x="9551090" y="3438144"/>
            <a:ext cx="1796613" cy="1188720"/>
          </a:xfrm>
          <a:prstGeom prst="roundRect">
            <a:avLst>
              <a:gd name="adj" fmla="val 4615"/>
            </a:avLst>
          </a:prstGeom>
          <a:solidFill>
            <a:srgbClr val="F4F6F8"/>
          </a:solidFill>
          <a:ln w="9525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339" rIns="152339" tIns="152339" bIns="152339"/>
          <a:lstStyle/>
          <a:p>
            <a:pPr algn="l">
              <a:spcAft>
                <a:spcPts val="300"/>
              </a:spcAft>
              <a:buNone/>
            </a:pPr>
            <a:r>
              <a:rPr sz="1300" b="1">
                <a:solidFill>
                  <a:srgbClr val="2F5DA8"/>
                </a:solidFill>
                <a:latin typeface="Yu Gothic Medium"/>
                <a:cs typeface="Yu Gothic Medium"/>
                <a:ea typeface="Yu Gothic Medium"/>
              </a:rPr>
              <a:t>05</a:t>
            </a:r>
          </a:p>
          <a:p>
            <a:pPr algn="l">
              <a:lnSpc>
                <a:spcPct val="115000"/>
              </a:lnSpc>
              <a:spcAft>
                <a:spcPts val="500"/>
              </a:spcAft>
              <a:buNone/>
            </a:pPr>
            <a:r>
              <a:rPr sz="1800" b="1">
                <a:solidFill>
                  <a:srgbClr val="1A1A1A"/>
                </a:solidFill>
                <a:latin typeface="Yu Gothic Medium"/>
                <a:cs typeface="Yu Gothic Medium"/>
                <a:ea typeface="Yu Gothic Medium"/>
              </a:rPr>
              <a:t>決裁</a:t>
            </a:r>
          </a:p>
          <a:p>
            <a:pPr algn="l">
              <a:lnSpc>
                <a:spcPct val="125000"/>
              </a:lnSpc>
              <a:buNone/>
            </a:pPr>
            <a:r>
              <a:rPr sz="1600">
                <a:solidFill>
                  <a:srgbClr val="6B7280"/>
                </a:solidFill>
                <a:latin typeface="Yu Gothic"/>
                <a:cs typeface="Yu Gothic"/>
                <a:ea typeface="Yu Gothic"/>
              </a:rPr>
              <a:t>役員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24744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1100" b="0">
                <a:solidFill>
                  <a:srgbClr val="6B7280"/>
                </a:solidFill>
                <a:latin typeface="Yu Gothic"/>
                <a:cs typeface="Yu Gothic"/>
                <a:ea typeface="Yu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b" lIns="0" rIns="0" tIns="0" bIns="0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3000" b="1">
                <a:solidFill>
                  <a:srgbClr val="1A1A1A"/>
                </a:solidFill>
                <a:latin typeface="Yu Gothic Medium"/>
                <a:cs typeface="Yu Gothic Medium"/>
                <a:ea typeface="Yu Gothic Medium"/>
              </a:rPr>
              <a:t>効果が大きく着手が早い施策から取る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91056"/>
            <a:ext cx="960120" cy="41148"/>
          </a:xfrm>
          <a:prstGeom prst="rect">
            <a:avLst/>
          </a:prstGeom>
          <a:solidFill>
            <a:srgbClr val="2F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t/quadrant"/>
          <p:cNvSpPr/>
          <p:nvPr/>
        </p:nvSpPr>
        <p:spPr>
          <a:xfrm>
            <a:off x="1907621" y="1719072"/>
            <a:ext cx="4662914" cy="2103965"/>
          </a:xfrm>
          <a:prstGeom prst="roundRect">
            <a:avLst>
              <a:gd name="adj" fmla="val 2607"/>
            </a:avLst>
          </a:prstGeom>
          <a:solidFill>
            <a:srgbClr val="F4F6F8"/>
          </a:solidFill>
          <a:ln w="9525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339" rIns="152339" tIns="152339" bIns="152339"/>
          <a:lstStyle/>
          <a:p>
            <a:pPr algn="l">
              <a:lnSpc>
                <a:spcPct val="115000"/>
              </a:lnSpc>
              <a:spcAft>
                <a:spcPts val="500"/>
              </a:spcAft>
              <a:buNone/>
            </a:pPr>
            <a:r>
              <a:rPr sz="1800" b="1">
                <a:solidFill>
                  <a:srgbClr val="1A1A1A"/>
                </a:solidFill>
                <a:latin typeface="Yu Gothic Medium"/>
                <a:cs typeface="Yu Gothic Medium"/>
                <a:ea typeface="Yu Gothic Medium"/>
              </a:rPr>
              <a:t>制度改正</a:t>
            </a:r>
          </a:p>
          <a:p>
            <a:pPr algn="l">
              <a:lnSpc>
                <a:spcPct val="125000"/>
              </a:lnSpc>
              <a:buNone/>
            </a:pPr>
            <a:r>
              <a:rPr sz="1600">
                <a:solidFill>
                  <a:srgbClr val="6B7280"/>
                </a:solidFill>
                <a:latin typeface="Yu Gothic"/>
                <a:cs typeface="Yu Gothic"/>
                <a:ea typeface="Yu Gothic"/>
              </a:rPr>
              <a:t>効果は大きいが半年かかる</a:t>
            </a:r>
          </a:p>
        </p:txBody>
      </p:sp>
      <p:sp>
        <p:nvSpPr>
          <p:cNvPr id="6" name="part/quadrant"/>
          <p:cNvSpPr/>
          <p:nvPr/>
        </p:nvSpPr>
        <p:spPr>
          <a:xfrm>
            <a:off x="6684789" y="1719072"/>
            <a:ext cx="4662914" cy="2103965"/>
          </a:xfrm>
          <a:prstGeom prst="roundRect">
            <a:avLst>
              <a:gd name="adj" fmla="val 2607"/>
            </a:avLst>
          </a:prstGeom>
          <a:solidFill>
            <a:srgbClr val="E9ECF1"/>
          </a:solidFill>
          <a:ln w="9525">
            <a:solidFill>
              <a:srgbClr val="2F5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339" rIns="152339" tIns="152339" bIns="152339"/>
          <a:lstStyle/>
          <a:p>
            <a:pPr algn="l">
              <a:lnSpc>
                <a:spcPct val="115000"/>
              </a:lnSpc>
              <a:spcAft>
                <a:spcPts val="500"/>
              </a:spcAft>
              <a:buNone/>
            </a:pPr>
            <a:r>
              <a:rPr sz="1800" b="1">
                <a:solidFill>
                  <a:srgbClr val="2F5DA8"/>
                </a:solidFill>
                <a:latin typeface="Yu Gothic Medium"/>
                <a:cs typeface="Yu Gothic Medium"/>
                <a:ea typeface="Yu Gothic Medium"/>
              </a:rPr>
              <a:t>並列承認</a:t>
            </a:r>
          </a:p>
          <a:p>
            <a:pPr algn="l">
              <a:lnSpc>
                <a:spcPct val="125000"/>
              </a:lnSpc>
              <a:buNone/>
            </a:pPr>
            <a:r>
              <a:rPr sz="1600">
                <a:solidFill>
                  <a:srgbClr val="6B7280"/>
                </a:solidFill>
                <a:latin typeface="Yu Gothic"/>
                <a:cs typeface="Yu Gothic"/>
                <a:ea typeface="Yu Gothic"/>
              </a:rPr>
              <a:t>規程変更だけで来月から可能</a:t>
            </a:r>
          </a:p>
        </p:txBody>
      </p:sp>
      <p:sp>
        <p:nvSpPr>
          <p:cNvPr id="7" name="part/quadrant"/>
          <p:cNvSpPr/>
          <p:nvPr/>
        </p:nvSpPr>
        <p:spPr>
          <a:xfrm>
            <a:off x="1907621" y="3937292"/>
            <a:ext cx="4662914" cy="2103965"/>
          </a:xfrm>
          <a:prstGeom prst="roundRect">
            <a:avLst>
              <a:gd name="adj" fmla="val 2607"/>
            </a:avLst>
          </a:prstGeom>
          <a:solidFill>
            <a:srgbClr val="F4F6F8"/>
          </a:solidFill>
          <a:ln w="9525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339" rIns="152339" tIns="152339" bIns="152339"/>
          <a:lstStyle/>
          <a:p>
            <a:pPr algn="l">
              <a:lnSpc>
                <a:spcPct val="115000"/>
              </a:lnSpc>
              <a:spcAft>
                <a:spcPts val="500"/>
              </a:spcAft>
              <a:buNone/>
            </a:pPr>
            <a:r>
              <a:rPr sz="1800" b="1">
                <a:solidFill>
                  <a:srgbClr val="1A1A1A"/>
                </a:solidFill>
                <a:latin typeface="Yu Gothic Medium"/>
                <a:cs typeface="Yu Gothic Medium"/>
                <a:ea typeface="Yu Gothic Medium"/>
              </a:rPr>
              <a:t>帳票統合</a:t>
            </a:r>
          </a:p>
          <a:p>
            <a:pPr algn="l">
              <a:lnSpc>
                <a:spcPct val="125000"/>
              </a:lnSpc>
              <a:buNone/>
            </a:pPr>
            <a:r>
              <a:rPr sz="1600">
                <a:solidFill>
                  <a:srgbClr val="6B7280"/>
                </a:solidFill>
                <a:latin typeface="Yu Gothic"/>
                <a:cs typeface="Yu Gothic"/>
                <a:ea typeface="Yu Gothic"/>
              </a:rPr>
              <a:t>効果は限定的で工数も大きい</a:t>
            </a:r>
          </a:p>
        </p:txBody>
      </p:sp>
      <p:sp>
        <p:nvSpPr>
          <p:cNvPr id="8" name="part/quadrant"/>
          <p:cNvSpPr/>
          <p:nvPr/>
        </p:nvSpPr>
        <p:spPr>
          <a:xfrm>
            <a:off x="6684789" y="3937292"/>
            <a:ext cx="4662914" cy="2103965"/>
          </a:xfrm>
          <a:prstGeom prst="roundRect">
            <a:avLst>
              <a:gd name="adj" fmla="val 2607"/>
            </a:avLst>
          </a:prstGeom>
          <a:solidFill>
            <a:srgbClr val="F4F6F8"/>
          </a:solidFill>
          <a:ln w="9525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339" rIns="152339" tIns="152339" bIns="152339"/>
          <a:lstStyle/>
          <a:p>
            <a:pPr algn="l">
              <a:lnSpc>
                <a:spcPct val="115000"/>
              </a:lnSpc>
              <a:spcAft>
                <a:spcPts val="500"/>
              </a:spcAft>
              <a:buNone/>
            </a:pPr>
            <a:r>
              <a:rPr sz="1800" b="1">
                <a:solidFill>
                  <a:srgbClr val="1A1A1A"/>
                </a:solidFill>
                <a:latin typeface="Yu Gothic Medium"/>
                <a:cs typeface="Yu Gothic Medium"/>
                <a:ea typeface="Yu Gothic Medium"/>
              </a:rPr>
              <a:t>テンプレ整備</a:t>
            </a:r>
          </a:p>
          <a:p>
            <a:pPr algn="l">
              <a:lnSpc>
                <a:spcPct val="125000"/>
              </a:lnSpc>
              <a:buNone/>
            </a:pPr>
            <a:r>
              <a:rPr sz="1600">
                <a:solidFill>
                  <a:srgbClr val="6B7280"/>
                </a:solidFill>
                <a:latin typeface="Yu Gothic"/>
                <a:cs typeface="Yu Gothic"/>
                <a:ea typeface="Yu Gothic"/>
              </a:rPr>
              <a:t>すぐ効くが効果は小さい</a:t>
            </a:r>
          </a:p>
        </p:txBody>
      </p:sp>
      <p:sp>
        <p:nvSpPr>
          <p:cNvPr id="9" name="part/axis"/>
          <p:cNvSpPr txBox="1"/>
          <p:nvPr/>
        </p:nvSpPr>
        <p:spPr>
          <a:xfrm>
            <a:off x="841248" y="1719072"/>
            <a:ext cx="914034" cy="2285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1300" b="0">
                <a:solidFill>
                  <a:srgbClr val="6B7280"/>
                </a:solidFill>
                <a:latin typeface="Yu Gothic"/>
                <a:cs typeface="Yu Gothic"/>
                <a:ea typeface="Yu Gothic"/>
              </a:rPr>
              <a:t>効果が大きい</a:t>
            </a:r>
          </a:p>
        </p:txBody>
      </p:sp>
      <p:sp>
        <p:nvSpPr>
          <p:cNvPr id="10" name="part/axis"/>
          <p:cNvSpPr txBox="1"/>
          <p:nvPr/>
        </p:nvSpPr>
        <p:spPr>
          <a:xfrm>
            <a:off x="841248" y="5812749"/>
            <a:ext cx="914034" cy="2285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1300" b="0">
                <a:solidFill>
                  <a:srgbClr val="6B7280"/>
                </a:solidFill>
                <a:latin typeface="Yu Gothic"/>
                <a:cs typeface="Yu Gothic"/>
                <a:ea typeface="Yu Gothic"/>
              </a:rPr>
              <a:t>効果が小さい</a:t>
            </a:r>
          </a:p>
        </p:txBody>
      </p:sp>
      <p:sp>
        <p:nvSpPr>
          <p:cNvPr id="11" name="part/axis"/>
          <p:cNvSpPr txBox="1"/>
          <p:nvPr/>
        </p:nvSpPr>
        <p:spPr>
          <a:xfrm>
            <a:off x="1907621" y="6079342"/>
            <a:ext cx="4720041" cy="2285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300" b="0">
                <a:solidFill>
                  <a:srgbClr val="6B7280"/>
                </a:solidFill>
                <a:latin typeface="Yu Gothic"/>
                <a:cs typeface="Yu Gothic"/>
                <a:ea typeface="Yu Gothic"/>
              </a:rPr>
              <a:t>着手が遅い</a:t>
            </a:r>
          </a:p>
        </p:txBody>
      </p:sp>
      <p:sp>
        <p:nvSpPr>
          <p:cNvPr id="12" name="part/axis"/>
          <p:cNvSpPr txBox="1"/>
          <p:nvPr/>
        </p:nvSpPr>
        <p:spPr>
          <a:xfrm>
            <a:off x="6627662" y="6079342"/>
            <a:ext cx="4720041" cy="2285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1300" b="0">
                <a:solidFill>
                  <a:srgbClr val="6B7280"/>
                </a:solidFill>
                <a:latin typeface="Yu Gothic"/>
                <a:cs typeface="Yu Gothic"/>
                <a:ea typeface="Yu Gothic"/>
              </a:rPr>
              <a:t>着手が早い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24744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1100" b="0">
                <a:solidFill>
                  <a:srgbClr val="6B7280"/>
                </a:solidFill>
                <a:latin typeface="Yu Gothic"/>
                <a:cs typeface="Yu Gothic"/>
                <a:ea typeface="Yu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sz="3400" b="1">
                <a:solidFill>
                  <a:srgbClr val="FFFFFF"/>
                </a:solidFill>
                <a:latin typeface="Yu Gothic Medium"/>
                <a:cs typeface="Yu Gothic Medium"/>
                <a:ea typeface="Yu Gothic Medium"/>
              </a:rPr>
              <a:t>打ち手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anchor="b">
            <a:noAutofit/>
          </a:bodyPr>
          <a:lstStyle/>
          <a:p>
            <a:pPr algn="l">
              <a:buNone/>
            </a:pPr>
            <a:r>
              <a:rPr sz="2200" b="1">
                <a:solidFill>
                  <a:srgbClr val="8CA2C4"/>
                </a:solidFill>
                <a:latin typeface="Yu Gothic Medium"/>
                <a:cs typeface="Yu Gothic Medium"/>
                <a:ea typeface="Yu Gothic Medium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2542032"/>
            <a:ext cx="960120" cy="41148"/>
          </a:xfrm>
          <a:prstGeom prst="rect">
            <a:avLst/>
          </a:prstGeom>
          <a:solidFill>
            <a:srgbClr val="8CA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b" lIns="0" rIns="0" tIns="0" bIns="0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3000" b="1">
                <a:solidFill>
                  <a:srgbClr val="1A1A1A"/>
                </a:solidFill>
                <a:latin typeface="Yu Gothic Medium"/>
                <a:cs typeface="Yu Gothic Medium"/>
                <a:ea typeface="Yu Gothic Medium"/>
              </a:rPr>
              <a:t>取るのは並列承認、他は前提整理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91056"/>
            <a:ext cx="960120" cy="41148"/>
          </a:xfrm>
          <a:prstGeom prst="rect">
            <a:avLst/>
          </a:prstGeom>
          <a:solidFill>
            <a:srgbClr val="2F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t/lead"/>
          <p:cNvSpPr/>
          <p:nvPr/>
        </p:nvSpPr>
        <p:spPr>
          <a:xfrm>
            <a:off x="841248" y="1719072"/>
            <a:ext cx="4762893" cy="4626864"/>
          </a:xfrm>
          <a:prstGeom prst="roundRect">
            <a:avLst>
              <a:gd name="adj" fmla="val 1185"/>
            </a:avLst>
          </a:prstGeom>
          <a:solidFill>
            <a:srgbClr val="E9ECF1"/>
          </a:solidFill>
          <a:ln w="9525">
            <a:solidFill>
              <a:srgbClr val="2F5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339" rIns="152339" tIns="152339" bIns="152339"/>
          <a:lstStyle/>
          <a:p>
            <a:pPr algn="l">
              <a:lnSpc>
                <a:spcPct val="115000"/>
              </a:lnSpc>
              <a:spcAft>
                <a:spcPts val="500"/>
              </a:spcAft>
              <a:buNone/>
            </a:pPr>
            <a:r>
              <a:rPr sz="1800" b="1">
                <a:solidFill>
                  <a:srgbClr val="2F5DA8"/>
                </a:solidFill>
                <a:latin typeface="Yu Gothic Medium"/>
                <a:cs typeface="Yu Gothic Medium"/>
                <a:ea typeface="Yu Gothic Medium"/>
              </a:rPr>
              <a:t>並列承認への切替</a:t>
            </a:r>
          </a:p>
          <a:p>
            <a:pPr algn="l">
              <a:lnSpc>
                <a:spcPct val="125000"/>
              </a:lnSpc>
              <a:buNone/>
            </a:pPr>
            <a:r>
              <a:rPr sz="1600">
                <a:solidFill>
                  <a:srgbClr val="6B7280"/>
                </a:solidFill>
                <a:latin typeface="Yu Gothic"/>
                <a:cs typeface="Yu Gothic"/>
                <a:ea typeface="Yu Gothic"/>
              </a:rPr>
              <a:t>規程改正だけで来月から着手でき、42日を18日に縮められる</a:t>
            </a:r>
          </a:p>
        </p:txBody>
      </p:sp>
      <p:sp>
        <p:nvSpPr>
          <p:cNvPr id="6" name="part/rest"/>
          <p:cNvSpPr/>
          <p:nvPr/>
        </p:nvSpPr>
        <p:spPr>
          <a:xfrm>
            <a:off x="5756480" y="1719072"/>
            <a:ext cx="5591223" cy="2237262"/>
          </a:xfrm>
          <a:prstGeom prst="roundRect">
            <a:avLst>
              <a:gd name="adj" fmla="val 2452"/>
            </a:avLst>
          </a:prstGeom>
          <a:solidFill>
            <a:srgbClr val="F4F6F8"/>
          </a:solidFill>
          <a:ln w="9525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339" rIns="152339" tIns="152339" bIns="152339"/>
          <a:lstStyle/>
          <a:p>
            <a:pPr algn="l">
              <a:lnSpc>
                <a:spcPct val="115000"/>
              </a:lnSpc>
              <a:spcAft>
                <a:spcPts val="500"/>
              </a:spcAft>
              <a:buNone/>
            </a:pPr>
            <a:r>
              <a:rPr sz="1800" b="1">
                <a:solidFill>
                  <a:srgbClr val="1A1A1A"/>
                </a:solidFill>
                <a:latin typeface="Yu Gothic Medium"/>
                <a:cs typeface="Yu Gothic Medium"/>
                <a:ea typeface="Yu Gothic Medium"/>
              </a:rPr>
              <a:t>帳票の統合</a:t>
            </a:r>
          </a:p>
          <a:p>
            <a:pPr algn="l">
              <a:lnSpc>
                <a:spcPct val="125000"/>
              </a:lnSpc>
              <a:buNone/>
            </a:pPr>
            <a:r>
              <a:rPr sz="1600">
                <a:solidFill>
                  <a:srgbClr val="6B7280"/>
                </a:solidFill>
                <a:latin typeface="Yu Gothic"/>
                <a:cs typeface="Yu Gothic"/>
                <a:ea typeface="Yu Gothic"/>
              </a:rPr>
              <a:t>来期に検討。効果は限定的</a:t>
            </a:r>
          </a:p>
        </p:txBody>
      </p:sp>
      <p:sp>
        <p:nvSpPr>
          <p:cNvPr id="7" name="part/rest"/>
          <p:cNvSpPr/>
          <p:nvPr/>
        </p:nvSpPr>
        <p:spPr>
          <a:xfrm>
            <a:off x="5756480" y="4108673"/>
            <a:ext cx="5591223" cy="2237262"/>
          </a:xfrm>
          <a:prstGeom prst="roundRect">
            <a:avLst>
              <a:gd name="adj" fmla="val 2452"/>
            </a:avLst>
          </a:prstGeom>
          <a:solidFill>
            <a:srgbClr val="F4F6F8"/>
          </a:solidFill>
          <a:ln w="9525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339" rIns="152339" tIns="152339" bIns="152339"/>
          <a:lstStyle/>
          <a:p>
            <a:pPr algn="l">
              <a:lnSpc>
                <a:spcPct val="115000"/>
              </a:lnSpc>
              <a:spcAft>
                <a:spcPts val="500"/>
              </a:spcAft>
              <a:buNone/>
            </a:pPr>
            <a:r>
              <a:rPr sz="1800" b="1">
                <a:solidFill>
                  <a:srgbClr val="1A1A1A"/>
                </a:solidFill>
                <a:latin typeface="Yu Gothic Medium"/>
                <a:cs typeface="Yu Gothic Medium"/>
                <a:ea typeface="Yu Gothic Medium"/>
              </a:rPr>
              <a:t>制度改正</a:t>
            </a:r>
          </a:p>
          <a:p>
            <a:pPr algn="l">
              <a:lnSpc>
                <a:spcPct val="125000"/>
              </a:lnSpc>
              <a:buNone/>
            </a:pPr>
            <a:r>
              <a:rPr sz="1600">
                <a:solidFill>
                  <a:srgbClr val="6B7280"/>
                </a:solidFill>
                <a:latin typeface="Yu Gothic"/>
                <a:cs typeface="Yu Gothic"/>
                <a:ea typeface="Yu Gothic"/>
              </a:rPr>
              <a:t>半年かかる。並行して準備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4744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1100" b="0">
                <a:solidFill>
                  <a:srgbClr val="6B7280"/>
                </a:solidFill>
                <a:latin typeface="Yu Gothic"/>
                <a:cs typeface="Yu Gothic"/>
                <a:ea typeface="Yu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b" lIns="0" rIns="0" tIns="0" bIns="0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3000" b="1">
                <a:solidFill>
                  <a:srgbClr val="1A1A1A"/>
                </a:solidFill>
                <a:latin typeface="Yu Gothic Medium"/>
                <a:cs typeface="Yu Gothic Medium"/>
                <a:ea typeface="Yu Gothic Medium"/>
              </a:rPr>
              <a:t>図と読みは同じ重さではない</a:t>
            </a:r>
          </a:p>
        </p:txBody>
      </p:sp>
      <p:sp>
        <p:nvSpPr>
          <p:cNvPr id="3" name="part/split-text"/>
          <p:cNvSpPr>
            <a:spLocks noGrp="1"/>
          </p:cNvSpPr>
          <p:nvPr>
            <p:ph idx="1"/>
          </p:nvPr>
        </p:nvSpPr>
        <p:spPr>
          <a:xfrm>
            <a:off x="841248" y="1719072"/>
            <a:ext cx="3876675" cy="4626864"/>
          </a:xfrm>
        </p:spPr>
        <p:txBody>
          <a:bodyPr wrap="square" anchor="t">
            <a:noAutofit/>
          </a:bodyPr>
          <a:lstStyle/>
          <a:p>
            <a:pPr>
              <a:spcAft>
                <a:spcPts val="800"/>
              </a:spcAft>
              <a:buNone/>
            </a:pPr>
            <a:r>
              <a:rPr sz="1800" b="1">
                <a:solidFill>
                  <a:srgbClr val="2F5DA8"/>
                </a:solidFill>
                <a:latin typeface="Yu Gothic Medium"/>
                <a:cs typeface="Yu Gothic Medium"/>
                <a:ea typeface="Yu Gothic Medium"/>
              </a:rPr>
              <a:t>読み取れること</a:t>
            </a:r>
          </a:p>
          <a:p>
            <a:pPr marL="274320" indent="-201168">
              <a:spcAft>
                <a:spcPts val="900"/>
              </a:spcAft>
              <a:buFont typeface="Yu Gothic"/>
              <a:buChar char="–"/>
            </a:pPr>
            <a:r>
              <a:rPr sz="1800">
                <a:solidFill>
                  <a:srgbClr val="1A1A1A"/>
                </a:solidFill>
                <a:latin typeface="Yu Gothic"/>
                <a:cs typeface="Yu Gothic"/>
                <a:ea typeface="Yu Gothic"/>
              </a:rPr>
              <a:t>入口の転換率は業界並み</a:t>
            </a:r>
          </a:p>
          <a:p>
            <a:pPr marL="274320" indent="-201168">
              <a:spcAft>
                <a:spcPts val="900"/>
              </a:spcAft>
              <a:buFont typeface="Yu Gothic"/>
              <a:buChar char="–"/>
            </a:pPr>
            <a:r>
              <a:rPr sz="1800">
                <a:solidFill>
                  <a:srgbClr val="1A1A1A"/>
                </a:solidFill>
                <a:latin typeface="Yu Gothic"/>
                <a:cs typeface="Yu Gothic"/>
                <a:ea typeface="Yu Gothic"/>
              </a:rPr>
              <a:t>落ちるのは体験開始の直後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91056"/>
            <a:ext cx="960120" cy="41148"/>
          </a:xfrm>
          <a:prstGeom prst="rect">
            <a:avLst/>
          </a:prstGeom>
          <a:solidFill>
            <a:srgbClr val="2F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2601" y="1924136"/>
            <a:ext cx="6325102" cy="42167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6419088"/>
            <a:ext cx="96834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6B7280"/>
                </a:solidFill>
                <a:latin typeface="Yu Gothic"/>
                <a:cs typeface="Yu Gothic"/>
                <a:ea typeface="Yu Gothic"/>
              </a:rPr>
              <a:t>出典: 社内BI 2026-05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4744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1100" b="0">
                <a:solidFill>
                  <a:srgbClr val="6B7280"/>
                </a:solidFill>
                <a:latin typeface="Yu Gothic"/>
                <a:cs typeface="Yu Gothic"/>
                <a:ea typeface="Yu Gothic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