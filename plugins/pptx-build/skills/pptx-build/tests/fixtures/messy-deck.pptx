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2026年度</c:v>
                </c:pt>
              </c:strCache>
            </c:strRef>
          </c:tx>
          <c:explosion val="25"/>
          <c:cat>
            <c:strRef>
              <c:f>Sheet1!$A$2:$A$8</c:f>
              <c:strCache>
                <c:ptCount val="7"/>
                <c:pt idx="0">
                  <c:v>製品A</c:v>
                </c:pt>
                <c:pt idx="1">
                  <c:v>製品B</c:v>
                </c:pt>
                <c:pt idx="2">
                  <c:v>製品C</c:v>
                </c:pt>
                <c:pt idx="3">
                  <c:v>製品D</c:v>
                </c:pt>
                <c:pt idx="4">
                  <c:v>製品E</c:v>
                </c:pt>
                <c:pt idx="5">
                  <c:v>製品F</c:v>
                </c:pt>
                <c:pt idx="6">
                  <c:v>製品G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32.0</c:v>
                </c:pt>
                <c:pt idx="1">
                  <c:v>24.0</c:v>
                </c:pt>
                <c:pt idx="2">
                  <c:v>15.0</c:v>
                </c:pt>
                <c:pt idx="3">
                  <c:v>11.0</c:v>
                </c:pt>
                <c:pt idx="4">
                  <c:v>8.0</c:v>
                </c:pt>
                <c:pt idx="5">
                  <c:v>6.0</c:v>
                </c:pt>
                <c:pt idx="6">
                  <c:v>4.0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</a:rPr>
              <a:t>2026年度 事業計画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6B7280"/>
                </a:solidFill>
              </a:rPr>
              <a:t>経営企画部 2026-04-01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91695" cy="82296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市場環境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A1A1A"/>
                </a:solidFill>
              </a:rPr>
              <a:t>・国内市場は2年連続で縮小している</a:t>
            </a:r>
          </a:p>
          <a:p>
            <a:r>
              <a:rPr sz="2000" b="0">
                <a:solidFill>
                  <a:srgbClr val="1A1A1A"/>
                </a:solidFill>
              </a:rPr>
              <a:t>・海外は年率12%で成長</a:t>
            </a:r>
          </a:p>
          <a:p>
            <a:r>
              <a:rPr sz="2000" b="0">
                <a:solidFill>
                  <a:srgbClr val="1A1A1A"/>
                </a:solidFill>
              </a:rPr>
              <a:t>・競合A社が価格を引き下げた</a:t>
            </a:r>
          </a:p>
          <a:p>
            <a:r>
              <a:rPr sz="2000" b="0">
                <a:solidFill>
                  <a:srgbClr val="1A1A1A"/>
                </a:solidFill>
              </a:rPr>
              <a:t>・当社シェアは18%で横ばい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</a:rPr>
              <a:t>出典: 業界統計 2026年版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309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91695" cy="82296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提供プロセス</a:t>
            </a:r>
          </a:p>
        </p:txBody>
      </p:sp>
      <p:grpSp>
        <p:nvGrpSpPr>
          <p:cNvPr id="11" name="process-diagram"/>
          <p:cNvGrpSpPr/>
          <p:nvPr/>
        </p:nvGrpSpPr>
        <p:grpSpPr>
          <a:xfrm>
            <a:off x="914400" y="2743200"/>
            <a:ext cx="10424160" cy="1097280"/>
            <a:chOff x="914400" y="2743200"/>
            <a:chExt cx="10424160" cy="1097280"/>
          </a:xfrm>
        </p:grpSpPr>
        <p:sp>
          <p:nvSpPr>
            <p:cNvPr id="4" name="Rounded Rectangle 3"/>
            <p:cNvSpPr/>
            <p:nvPr/>
          </p:nvSpPr>
          <p:spPr>
            <a:xfrm>
              <a:off x="914400" y="2743200"/>
              <a:ext cx="2194560" cy="109728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800"/>
                <a:t>受注</a:t>
              </a:r>
            </a:p>
          </p:txBody>
        </p:sp>
        <p:sp>
          <p:nvSpPr>
            <p:cNvPr id="5" name="Right Arrow 4"/>
            <p:cNvSpPr/>
            <p:nvPr/>
          </p:nvSpPr>
          <p:spPr>
            <a:xfrm>
              <a:off x="3154680" y="3108960"/>
              <a:ext cx="457200" cy="36576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657600" y="2743200"/>
              <a:ext cx="2194560" cy="109728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800"/>
                <a:t>設計</a:t>
              </a:r>
            </a:p>
          </p:txBody>
        </p:sp>
        <p:sp>
          <p:nvSpPr>
            <p:cNvPr id="7" name="Right Arrow 6"/>
            <p:cNvSpPr/>
            <p:nvPr/>
          </p:nvSpPr>
          <p:spPr>
            <a:xfrm>
              <a:off x="5897880" y="3108960"/>
              <a:ext cx="457200" cy="36576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6400800" y="2743200"/>
              <a:ext cx="2194560" cy="109728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800"/>
                <a:t>製造</a:t>
              </a:r>
            </a:p>
          </p:txBody>
        </p:sp>
        <p:sp>
          <p:nvSpPr>
            <p:cNvPr id="9" name="Right Arrow 8"/>
            <p:cNvSpPr/>
            <p:nvPr/>
          </p:nvSpPr>
          <p:spPr>
            <a:xfrm>
              <a:off x="8641080" y="3108960"/>
              <a:ext cx="457200" cy="36576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9144000" y="2743200"/>
              <a:ext cx="2194560" cy="109728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sz="1800"/>
                <a:t>納品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"/>
            <a:ext cx="12191695" cy="822960"/>
          </a:xfrm>
          <a:prstGeom prst="rect">
            <a:avLst/>
          </a:prstGeom>
          <a:solidFill>
            <a:srgbClr val="1F3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売上構成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0" y="146304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