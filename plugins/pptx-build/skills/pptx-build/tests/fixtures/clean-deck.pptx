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欠品率</c:v>
                </c:pt>
              </c:strCache>
            </c:strRef>
          </c:tx>
          <c:spPr>
            <a:ln w="28575">
              <a:solidFill>
                <a:srgbClr val="2F5DA8"/>
              </a:solidFill>
            </a:ln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1.4</c:v>
                </c:pt>
                <c:pt idx="2">
                  <c:v>1.7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crossAx val="2118791784"/>
        <c:crosses val="autoZero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6B7280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ここで欠品の実害を口頭で補足する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1248" y="2240280"/>
            <a:ext cx="10506456" cy="1188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248" y="3456432"/>
            <a:ext cx="10506456" cy="7315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6456" cy="950976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719072"/>
            <a:ext cx="10506456" cy="4626864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615184"/>
            <a:ext cx="10506456" cy="12801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993392"/>
            <a:ext cx="10506456" cy="5486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6456" cy="950976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1248" y="1719072"/>
            <a:ext cx="5024628" cy="4626864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76" y="1719072"/>
            <a:ext cx="5024628" cy="4626864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194560"/>
            <a:ext cx="10506456" cy="2011680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506456" cy="9509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1248" y="1719072"/>
            <a:ext cx="10506456" cy="3657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5522976"/>
            <a:ext cx="10506456" cy="822960"/>
          </a:xfrm>
        </p:spPr>
        <p:txBody>
          <a:bodyPr anchor="t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4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在庫回転率の改善計画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pPr algn="l">
              <a:buNone/>
            </a:pPr>
            <a:r>
              <a:rPr sz="20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2026年度 上期レビュー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103120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34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現状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b">
            <a:noAutofit/>
          </a:bodyPr>
          <a:lstStyle/>
          <a:p>
            <a:pPr algn="l">
              <a:buNone/>
            </a:pPr>
            <a:r>
              <a:rPr sz="22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542032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在庫回転率は改善したが、欠品率が悪化している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在庫回転率は前年同期比で1.4pt改善</a:t>
            </a:r>
          </a:p>
          <a:p>
            <a:pPr lvl="1" marL="475488" indent="-201168">
              <a:spcAft>
                <a:spcPts val="900"/>
              </a:spcAft>
              <a:buFont typeface="Yu Gothic"/>
              <a:buChar char="•"/>
            </a:pPr>
            <a:r>
              <a:rPr sz="16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改善は主力3品目が牽引</a:t>
            </a:r>
          </a:p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一方、欠品率は0.8ptの悪化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19088"/>
            <a:ext cx="9683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出典: 社内在庫管理システム 2026-06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効いた施策と効かなかった施策が分かれた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 anchor="t">
            <a:noAutofit/>
          </a:bodyPr>
          <a:lstStyle/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効いた</a:t>
            </a:r>
          </a:p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発注点の見直し</a:t>
            </a:r>
          </a:p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supplierとの週次連携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anchor="t">
            <a:noAutofit/>
          </a:bodyPr>
          <a:lstStyle/>
          <a:p>
            <a:pPr>
              <a:spcAft>
                <a:spcPts val="800"/>
              </a:spcAft>
              <a:buNone/>
            </a:pPr>
            <a:r>
              <a:rPr sz="1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効かなかった</a:t>
            </a:r>
          </a:p>
          <a:p>
            <a:pPr marL="274320" indent="-201168">
              <a:spcAft>
                <a:spcPts val="900"/>
              </a:spcAft>
              <a:buFont typeface="Yu Gothic"/>
              <a:buChar char="–"/>
            </a:pPr>
            <a:r>
              <a:rPr sz="1800">
                <a:solidFill>
                  <a:srgbClr val="1A1A1A"/>
                </a:solidFill>
                <a:latin typeface="Yu Gothic"/>
                <a:cs typeface="Yu Gothic"/>
                <a:ea typeface="Yu Gothic"/>
              </a:rPr>
              <a:t>安全在庫の一律削減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主力品目の欠品は全体の7割を占める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>
            <a:noAutofit/>
          </a:bodyPr>
          <a:lstStyle/>
          <a:p>
            <a:pPr algn="l">
              <a:buNone/>
            </a:pPr>
            <a:r>
              <a:rPr sz="8800" b="1">
                <a:solidFill>
                  <a:srgbClr val="2F5DA8"/>
                </a:solidFill>
                <a:latin typeface="Yu Gothic Medium"/>
                <a:cs typeface="Yu Gothic Medium"/>
                <a:ea typeface="Yu Gothic Medium"/>
              </a:rPr>
              <a:t>71%</a:t>
            </a:r>
          </a:p>
          <a:p>
            <a:pPr>
              <a:spcBef>
                <a:spcPts val="600"/>
              </a:spcBef>
              <a:buNone/>
            </a:pPr>
            <a:r>
              <a:rPr sz="20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欠品件数に占める主力3品目の比率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419088"/>
            <a:ext cx="9683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出典: 社内在庫管理システム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sz="2800" b="0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“在庫は、意思決定の遅さが物質化したものだ。”</a:t>
            </a:r>
          </a:p>
          <a:p>
            <a:pPr>
              <a:spcBef>
                <a:spcPts val="1000"/>
              </a:spcBef>
              <a:buNone/>
            </a:pPr>
            <a:r>
              <a:rPr sz="180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— 製造部長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847088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品目別に見ると悪化は主力3品目に集中している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6456" cy="98755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02152"/>
                <a:gridCol w="3502152"/>
                <a:gridCol w="3502152"/>
              </a:tblGrid>
              <a:tr h="329184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Yu Gothic Medium"/>
                          <a:cs typeface="Yu Gothic Medium"/>
                          <a:ea typeface="Yu Gothic Medium"/>
                        </a:rPr>
                        <a:t>品目</a:t>
                      </a:r>
                    </a:p>
                  </a:txBody>
                  <a:tcPr marL="73152" marR="73152" marT="36576" marB="36576" anchor="ctr">
                    <a:lnB w="15875" cap="flat" cmpd="sng" algn="ctr">
                      <a:solidFill>
                        <a:srgbClr val="2F5DA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Yu Gothic Medium"/>
                          <a:cs typeface="Yu Gothic Medium"/>
                          <a:ea typeface="Yu Gothic Medium"/>
                        </a:rPr>
                        <a:t>回転率</a:t>
                      </a:r>
                    </a:p>
                  </a:txBody>
                  <a:tcPr marL="73152" marR="73152" marT="36576" marB="36576" anchor="ctr">
                    <a:lnB w="15875" cap="flat" cmpd="sng" algn="ctr">
                      <a:solidFill>
                        <a:srgbClr val="2F5DA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1A1A1A"/>
                          </a:solidFill>
                          <a:latin typeface="Yu Gothic Medium"/>
                          <a:cs typeface="Yu Gothic Medium"/>
                          <a:ea typeface="Yu Gothic Medium"/>
                        </a:rPr>
                        <a:t>欠品率</a:t>
                      </a:r>
                    </a:p>
                  </a:txBody>
                  <a:tcPr marL="73152" marR="73152" marT="36576" marB="36576" anchor="ctr">
                    <a:lnB w="15875" cap="flat" cmpd="sng" algn="ctr">
                      <a:solidFill>
                        <a:srgbClr val="2F5DA8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Yu Gothic"/>
                          <a:cs typeface="Yu Gothic"/>
                          <a:ea typeface="Yu Gothic"/>
                        </a:rPr>
                        <a:t>A</a:t>
                      </a:r>
                    </a:p>
                  </a:txBody>
                  <a:tcPr marL="73152" marR="73152" marT="36576" marB="36576" anchor="ctr">
                    <a:lnB w="6350" cap="flat" cmpd="sng" algn="ctr">
                      <a:solidFill>
                        <a:srgbClr val="6B728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Yu Gothic"/>
                          <a:cs typeface="Yu Gothic"/>
                          <a:ea typeface="Yu Gothic"/>
                        </a:rPr>
                        <a:t>8.2</a:t>
                      </a:r>
                    </a:p>
                  </a:txBody>
                  <a:tcPr marL="73152" marR="73152" marT="36576" marB="36576" anchor="ctr">
                    <a:lnB w="6350" cap="flat" cmpd="sng" algn="ctr">
                      <a:solidFill>
                        <a:srgbClr val="6B728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Yu Gothic"/>
                          <a:cs typeface="Yu Gothic"/>
                          <a:ea typeface="Yu Gothic"/>
                        </a:rPr>
                        <a:t>1.9%</a:t>
                      </a:r>
                    </a:p>
                  </a:txBody>
                  <a:tcPr marL="73152" marR="73152" marT="36576" marB="36576" anchor="ctr">
                    <a:lnB w="6350" cap="flat" cmpd="sng" algn="ctr">
                      <a:solidFill>
                        <a:srgbClr val="6B7280"/>
                      </a:solidFill>
                    </a:lnB>
                    <a:noFill/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Yu Gothic"/>
                          <a:cs typeface="Yu Gothic"/>
                          <a:ea typeface="Yu Gothic"/>
                        </a:rPr>
                        <a:t>B</a:t>
                      </a:r>
                    </a:p>
                  </a:txBody>
                  <a:tcPr marL="73152" marR="73152" marT="36576" marB="36576" anchor="ctr">
                    <a:lnB w="6350" cap="flat" cmpd="sng" algn="ctr">
                      <a:solidFill>
                        <a:srgbClr val="6B728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Yu Gothic"/>
                          <a:cs typeface="Yu Gothic"/>
                          <a:ea typeface="Yu Gothic"/>
                        </a:rPr>
                        <a:t>6.4</a:t>
                      </a:r>
                    </a:p>
                  </a:txBody>
                  <a:tcPr marL="73152" marR="73152" marT="36576" marB="36576" anchor="ctr">
                    <a:lnB w="6350" cap="flat" cmpd="sng" algn="ctr">
                      <a:solidFill>
                        <a:srgbClr val="6B728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1A1A1A"/>
                          </a:solidFill>
                          <a:latin typeface="Yu Gothic"/>
                          <a:cs typeface="Yu Gothic"/>
                          <a:ea typeface="Yu Gothic"/>
                        </a:rPr>
                        <a:t>2.4%</a:t>
                      </a:r>
                    </a:p>
                  </a:txBody>
                  <a:tcPr marL="73152" marR="73152" marT="36576" marB="36576" anchor="ctr">
                    <a:lnB w="6350" cap="flat" cmpd="sng" algn="ctr">
                      <a:solidFill>
                        <a:srgbClr val="6B728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419088"/>
            <a:ext cx="9683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出典: 社内在庫管理システム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b" lIns="0" rIns="0" tIns="0" bIns="0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3000" b="1">
                <a:solidFill>
                  <a:srgbClr val="1A1A1A"/>
                </a:solidFill>
                <a:latin typeface="Yu Gothic Medium"/>
                <a:cs typeface="Yu Gothic Medium"/>
                <a:ea typeface="Yu Gothic Medium"/>
              </a:rPr>
              <a:t>欠品率は第2四半期から悪化に転じた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91056"/>
            <a:ext cx="960120" cy="41148"/>
          </a:xfrm>
          <a:prstGeom prst="rect">
            <a:avLst/>
          </a:prstGeom>
          <a:solidFill>
            <a:srgbClr val="2F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ph idx="1"/>
          </p:nvPr>
        </p:nvGraphicFramePr>
        <p:xfrm>
          <a:off x="841248" y="1719072"/>
          <a:ext cx="10506456" cy="46268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6419088"/>
            <a:ext cx="96834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出典: 社内在庫管理システム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4744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6B7280"/>
                </a:solidFill>
                <a:latin typeface="Yu Gothic"/>
                <a:cs typeface="Yu Gothic"/>
                <a:ea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